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530" r:id="rId4"/>
    <p:sldId id="501" r:id="rId5"/>
    <p:sldId id="533" r:id="rId6"/>
    <p:sldId id="534" r:id="rId7"/>
    <p:sldId id="2145705651" r:id="rId8"/>
    <p:sldId id="529" r:id="rId9"/>
    <p:sldId id="531" r:id="rId10"/>
    <p:sldId id="528" r:id="rId11"/>
    <p:sldId id="510" r:id="rId12"/>
  </p:sldIdLst>
  <p:sldSz cx="14630400" cy="8229600"/>
  <p:notesSz cx="6858000" cy="9144000"/>
  <p:defaultTextStyle>
    <a:defPPr>
      <a:defRPr lang="en-US"/>
    </a:defPPr>
    <a:lvl1pPr marL="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D70623-8C05-4AEF-A5E2-DB2E9C3AC04F}">
          <p14:sldIdLst>
            <p14:sldId id="256"/>
            <p14:sldId id="257"/>
            <p14:sldId id="530"/>
            <p14:sldId id="501"/>
            <p14:sldId id="533"/>
            <p14:sldId id="534"/>
            <p14:sldId id="2145705651"/>
            <p14:sldId id="529"/>
            <p14:sldId id="531"/>
            <p14:sldId id="528"/>
            <p14:sldId id="5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2" autoAdjust="0"/>
    <p:restoredTop sz="90465" autoAdjust="0"/>
  </p:normalViewPr>
  <p:slideViewPr>
    <p:cSldViewPr>
      <p:cViewPr varScale="1">
        <p:scale>
          <a:sx n="167" d="100"/>
          <a:sy n="167" d="100"/>
        </p:scale>
        <p:origin x="1568" y="176"/>
      </p:cViewPr>
      <p:guideLst>
        <p:guide orient="horz" pos="2592"/>
        <p:guide pos="460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0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DCC39-3072-45D9-85AE-68E90B861419}" type="datetimeFigureOut">
              <a:rPr lang="en-CA" smtClean="0"/>
              <a:pPr/>
              <a:t>2024-11-11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49221-3EB0-4363-9B38-4D9EB75E2025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18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49221-3EB0-4363-9B38-4D9EB75E2025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7291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4480" y="2693418"/>
            <a:ext cx="12435840" cy="1764030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ndes Bold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4480" y="4842926"/>
            <a:ext cx="12435840" cy="2103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47849B-B88A-58C9-94C1-617904BA8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25304" y="226368"/>
            <a:ext cx="50405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365841"/>
            <a:ext cx="13280424" cy="1371600"/>
          </a:xfrm>
          <a:prstGeom prst="rect">
            <a:avLst/>
          </a:prstGeom>
        </p:spPr>
        <p:txBody>
          <a:bodyPr/>
          <a:lstStyle>
            <a:lvl1pPr>
              <a:defRPr sz="4800" b="1" i="0">
                <a:latin typeface="Andes Bold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920243"/>
            <a:ext cx="13167360" cy="5431155"/>
          </a:xfrm>
          <a:prstGeom prst="rect">
            <a:avLst/>
          </a:prstGeom>
        </p:spPr>
        <p:txBody>
          <a:bodyPr/>
          <a:lstStyle>
            <a:lvl1pPr marL="548640" indent="-548640">
              <a:buFont typeface="Arial" panose="020B0604020202020204" pitchFamily="34" charset="0"/>
              <a:buChar char="•"/>
              <a:defRPr/>
            </a:lvl1pPr>
            <a:lvl2pPr marL="1188720" indent="-457200">
              <a:buFont typeface="Arial" panose="020B0604020202020204" pitchFamily="34" charset="0"/>
              <a:buChar char="•"/>
              <a:defRPr/>
            </a:lvl2pPr>
            <a:lvl3pPr marL="1828800" indent="-365760">
              <a:buFont typeface="Arial" panose="020B0604020202020204" pitchFamily="34" charset="0"/>
              <a:buChar char="•"/>
              <a:defRPr/>
            </a:lvl3pPr>
            <a:lvl4pPr marL="2560320" indent="-365760">
              <a:buFont typeface="Arial" panose="020B0604020202020204" pitchFamily="34" charset="0"/>
              <a:buChar char="•"/>
              <a:defRPr/>
            </a:lvl4pPr>
            <a:lvl5pPr marL="3291840" indent="-36576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F6F406-8D9F-DF61-B3B1-BB8862E08EE9}"/>
              </a:ext>
            </a:extLst>
          </p:cNvPr>
          <p:cNvCxnSpPr/>
          <p:nvPr userDrawn="1"/>
        </p:nvCxnSpPr>
        <p:spPr>
          <a:xfrm>
            <a:off x="0" y="1234480"/>
            <a:ext cx="146304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D99B140-678E-5DC1-D4B2-3ACE98D45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25304" y="226368"/>
            <a:ext cx="50405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520" y="370384"/>
            <a:ext cx="12494949" cy="1371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4800" b="1" i="0">
                <a:solidFill>
                  <a:schemeClr val="tx2"/>
                </a:solidFill>
                <a:latin typeface="Andes Bold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885629-1CBD-4DCE-77E4-1766D57AFA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25304" y="226368"/>
            <a:ext cx="50405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350663-CFE0-8E96-BB81-63F18CCF6B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25304" y="226368"/>
            <a:ext cx="504056" cy="504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4F87E9-F24C-B9EB-4593-C1B4E1FFAAD9}"/>
              </a:ext>
            </a:extLst>
          </p:cNvPr>
          <p:cNvSpPr/>
          <p:nvPr userDrawn="1"/>
        </p:nvSpPr>
        <p:spPr>
          <a:xfrm>
            <a:off x="0" y="7643192"/>
            <a:ext cx="14630400" cy="5864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15600" y="7717003"/>
            <a:ext cx="3413760" cy="438150"/>
          </a:xfrm>
          <a:prstGeom prst="rect">
            <a:avLst/>
          </a:prstGeom>
        </p:spPr>
        <p:txBody>
          <a:bodyPr vert="horz" lIns="146304" tIns="73152" rIns="146304" bIns="73152" rtlCol="0" anchor="ctr"/>
          <a:lstStyle>
            <a:lvl1pPr algn="r">
              <a:defRPr sz="1900" b="1" i="0">
                <a:solidFill>
                  <a:schemeClr val="bg1"/>
                </a:solidFill>
                <a:latin typeface="Andes Bold" panose="02000000000000000000" pitchFamily="2" charset="0"/>
              </a:defRPr>
            </a:lvl1pPr>
          </a:lstStyle>
          <a:p>
            <a:fld id="{6734F48E-A456-4E2F-B17E-509464F7A050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Picture 10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9D5B75DF-460B-7EB6-CA9E-244DE55C0A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40" y="7794675"/>
            <a:ext cx="1296144" cy="2527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hf hdr="0" ftr="0" dt="0"/>
  <p:txStyles>
    <p:titleStyle>
      <a:lvl1pPr algn="l" defTabSz="1463040" rtl="0" eaLnBrk="1" latinLnBrk="0" hangingPunct="1">
        <a:spcBef>
          <a:spcPct val="0"/>
        </a:spcBef>
        <a:buNone/>
        <a:defRPr sz="6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1463040" rtl="0" eaLnBrk="1" latinLnBrk="0" hangingPunct="1">
        <a:spcBef>
          <a:spcPct val="20000"/>
        </a:spcBef>
        <a:buSzPct val="75000"/>
        <a:buFont typeface="Wingdings" pitchFamily="2" charset="2"/>
        <a:buChar char="q"/>
        <a:defRPr sz="4500" kern="1200">
          <a:solidFill>
            <a:schemeClr val="tx2"/>
          </a:solidFill>
          <a:latin typeface="+mj-lt"/>
          <a:ea typeface="+mn-ea"/>
          <a:cs typeface="+mn-cs"/>
        </a:defRPr>
      </a:lvl1pPr>
      <a:lvl2pPr marL="1188720" indent="-457200" algn="l" defTabSz="1463040" rtl="0" eaLnBrk="1" latinLnBrk="0" hangingPunct="1">
        <a:spcBef>
          <a:spcPct val="20000"/>
        </a:spcBef>
        <a:buFont typeface="Wingdings" pitchFamily="2" charset="2"/>
        <a:buChar char="§"/>
        <a:defRPr sz="3800" kern="1200">
          <a:solidFill>
            <a:schemeClr val="tx2"/>
          </a:solidFill>
          <a:latin typeface="+mj-lt"/>
          <a:ea typeface="+mn-ea"/>
          <a:cs typeface="+mn-cs"/>
        </a:defRPr>
      </a:lvl2pPr>
      <a:lvl3pPr marL="1828800" indent="-365760" algn="l" defTabSz="146304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2"/>
          </a:solidFill>
          <a:latin typeface="+mj-lt"/>
          <a:ea typeface="+mn-ea"/>
          <a:cs typeface="+mn-cs"/>
        </a:defRPr>
      </a:lvl3pPr>
      <a:lvl4pPr marL="2560320" indent="-365760" algn="l" defTabSz="146304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2"/>
          </a:solidFill>
          <a:latin typeface="+mj-lt"/>
          <a:ea typeface="+mn-ea"/>
          <a:cs typeface="+mn-cs"/>
        </a:defRPr>
      </a:lvl4pPr>
      <a:lvl5pPr marL="3291840" indent="-365760" algn="l" defTabSz="1463040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2"/>
          </a:solidFill>
          <a:latin typeface="+mj-lt"/>
          <a:ea typeface="+mn-ea"/>
          <a:cs typeface="+mn-cs"/>
        </a:defRPr>
      </a:lvl5pPr>
      <a:lvl6pPr marL="4023360" indent="-365760" algn="l" defTabSz="146304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4608" userDrawn="1">
          <p15:clr>
            <a:srgbClr val="F26B43"/>
          </p15:clr>
        </p15:guide>
        <p15:guide id="3" orient="horz" pos="324" userDrawn="1">
          <p15:clr>
            <a:srgbClr val="F26B43"/>
          </p15:clr>
        </p15:guide>
        <p15:guide id="4" orient="horz" pos="778" userDrawn="1">
          <p15:clr>
            <a:srgbClr val="F26B43"/>
          </p15:clr>
        </p15:guide>
        <p15:guide id="5" orient="horz" pos="4406" userDrawn="1">
          <p15:clr>
            <a:srgbClr val="F26B43"/>
          </p15:clr>
        </p15:guide>
        <p15:guide id="6" pos="526" userDrawn="1">
          <p15:clr>
            <a:srgbClr val="F26B43"/>
          </p15:clr>
        </p15:guide>
        <p15:guide id="7" pos="86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5C8F34-4AEC-4E05-44E5-1448552EE7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76431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721BEE-B0E4-B20D-BC33-F4DC8F30C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21" y="2146889"/>
            <a:ext cx="12435840" cy="2544523"/>
          </a:xfrm>
        </p:spPr>
        <p:txBody>
          <a:bodyPr>
            <a:noAutofit/>
          </a:bodyPr>
          <a:lstStyle/>
          <a:p>
            <a:r>
              <a:rPr lang="en-CA" sz="7200" b="1" i="1" dirty="0">
                <a:solidFill>
                  <a:schemeClr val="bg1"/>
                </a:solidFill>
              </a:rPr>
              <a:t>Buildable</a:t>
            </a:r>
            <a:br>
              <a:rPr lang="en-CA" sz="7200" b="1" i="1" dirty="0">
                <a:solidFill>
                  <a:schemeClr val="bg1"/>
                </a:solidFill>
              </a:rPr>
            </a:br>
            <a:r>
              <a:rPr lang="en-CA" sz="7200" dirty="0">
                <a:solidFill>
                  <a:schemeClr val="bg1"/>
                </a:solidFill>
              </a:rPr>
              <a:t>DIGITAL HEALTH BLUEPRINT</a:t>
            </a:r>
            <a:endParaRPr lang="en-CA" sz="7200" b="1" dirty="0">
              <a:solidFill>
                <a:schemeClr val="bg1"/>
              </a:solidFill>
              <a:latin typeface="Andes Bold" panose="02000000000000000000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049FD3-86FB-52E3-B853-19D435544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21" y="4509209"/>
            <a:ext cx="10580990" cy="2103120"/>
          </a:xfrm>
        </p:spPr>
        <p:txBody>
          <a:bodyPr>
            <a:normAutofit fontScale="77500" lnSpcReduction="20000"/>
          </a:bodyPr>
          <a:lstStyle/>
          <a:p>
            <a:r>
              <a:rPr lang="en-CA" sz="3600" dirty="0"/>
              <a:t>Developing “construction” documents and an</a:t>
            </a:r>
          </a:p>
          <a:p>
            <a:r>
              <a:rPr lang="en-CA" sz="3600" dirty="0"/>
              <a:t>investment and implementation roadmap for the national HIE</a:t>
            </a:r>
          </a:p>
          <a:p>
            <a:endParaRPr lang="en-CA" sz="2800" b="1" dirty="0"/>
          </a:p>
          <a:p>
            <a:r>
              <a:rPr lang="en-CA" sz="2800" b="1" dirty="0"/>
              <a:t>TWG Kick-off Meeting</a:t>
            </a:r>
          </a:p>
          <a:p>
            <a:r>
              <a:rPr lang="en-CA" sz="2800" dirty="0"/>
              <a:t>[Date]</a:t>
            </a:r>
            <a:r>
              <a:rPr lang="en-CA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46D7613-A12D-1000-DEB0-E32F5412B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419111" y="527455"/>
            <a:ext cx="2376264" cy="237626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4CA1124-B1DE-F514-879A-6F873508C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087783" y="4790726"/>
            <a:ext cx="2338898" cy="343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81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1A7F-9611-A00E-1017-EA7A2D66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841"/>
            <a:ext cx="12494949" cy="1371600"/>
          </a:xfrm>
          <a:prstGeom prst="rect">
            <a:avLst/>
          </a:prstGeom>
        </p:spPr>
        <p:txBody>
          <a:bodyPr/>
          <a:lstStyle/>
          <a:p>
            <a:r>
              <a:rPr lang="en-CA" sz="4800" b="1" dirty="0">
                <a:latin typeface="Andes Bold" panose="02000000000000000000" pitchFamily="2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63A6-DFE9-60DC-4155-A89B542A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80" y="1707981"/>
            <a:ext cx="13167360" cy="543115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800" b="1" dirty="0">
                <a:latin typeface="+mn-lt"/>
              </a:rPr>
              <a:t>Welcome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800" b="1" dirty="0">
                <a:latin typeface="+mn-lt"/>
              </a:rPr>
              <a:t>Introductions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800" b="1" dirty="0">
                <a:latin typeface="+mn-lt"/>
              </a:rPr>
              <a:t>Review of scope and timeline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800" b="1" dirty="0">
                <a:latin typeface="+mn-lt"/>
              </a:rPr>
              <a:t>Overview of the processes</a:t>
            </a:r>
          </a:p>
          <a:p>
            <a:pPr lvl="2">
              <a:lnSpc>
                <a:spcPct val="150000"/>
              </a:lnSpc>
            </a:pPr>
            <a:r>
              <a:rPr lang="en-CA" sz="2400" b="1" dirty="0">
                <a:latin typeface="+mn-lt"/>
              </a:rPr>
              <a:t>Pre-workshop content</a:t>
            </a:r>
          </a:p>
          <a:p>
            <a:pPr lvl="2">
              <a:lnSpc>
                <a:spcPct val="150000"/>
              </a:lnSpc>
            </a:pPr>
            <a:r>
              <a:rPr lang="en-CA" sz="2400" b="1" dirty="0">
                <a:latin typeface="+mn-lt"/>
              </a:rPr>
              <a:t>Interactive workshop, including feedback from previous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800" b="1" dirty="0">
                <a:latin typeface="+mn-lt"/>
              </a:rPr>
              <a:t>Summary and meeting closure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E3503-B461-852F-73F5-2983D45C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2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56BF97-E1EB-2250-3FFB-C186E2671BC0}"/>
              </a:ext>
            </a:extLst>
          </p:cNvPr>
          <p:cNvCxnSpPr/>
          <p:nvPr/>
        </p:nvCxnSpPr>
        <p:spPr>
          <a:xfrm>
            <a:off x="0" y="1235075"/>
            <a:ext cx="146304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75D0971A-93DB-1E35-DB46-7907DA0FE9B4}"/>
              </a:ext>
            </a:extLst>
          </p:cNvPr>
          <p:cNvSpPr/>
          <p:nvPr/>
        </p:nvSpPr>
        <p:spPr>
          <a:xfrm>
            <a:off x="937440" y="5194920"/>
            <a:ext cx="535008" cy="864096"/>
          </a:xfrm>
          <a:prstGeom prst="curved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2"/>
              </a:solidFill>
            </a:endParaRPr>
          </a:p>
        </p:txBody>
      </p:sp>
      <p:sp>
        <p:nvSpPr>
          <p:cNvPr id="7" name="Arrow: Curved Right 5">
            <a:extLst>
              <a:ext uri="{FF2B5EF4-FFF2-40B4-BE49-F238E27FC236}">
                <a16:creationId xmlns:a16="http://schemas.microsoft.com/office/drawing/2014/main" id="{23216C14-DCC7-92B5-856B-E83E6239680D}"/>
              </a:ext>
            </a:extLst>
          </p:cNvPr>
          <p:cNvSpPr/>
          <p:nvPr/>
        </p:nvSpPr>
        <p:spPr>
          <a:xfrm rot="10800000">
            <a:off x="1554560" y="5194920"/>
            <a:ext cx="535008" cy="864096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09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3A5C-0440-0398-AF6C-68DFBD47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WELCOME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23A05-6ED1-9AB9-3326-7E9C2D52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920243"/>
            <a:ext cx="10328096" cy="5431155"/>
          </a:xfrm>
        </p:spPr>
        <p:txBody>
          <a:bodyPr/>
          <a:lstStyle/>
          <a:p>
            <a:r>
              <a:rPr lang="en-CA" sz="3600" dirty="0"/>
              <a:t>&lt;introduce MOH executive sponsor who will welcome the TWG and launch the project&gt;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05678-48A7-2DC3-1395-CA6963EE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1696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INTRODUCTIONS…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743F6-236A-A9E5-E36A-7E1999256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3600" dirty="0"/>
              <a:t>&lt;introduce project leadership&gt;</a:t>
            </a:r>
          </a:p>
          <a:p>
            <a:r>
              <a:rPr lang="en-CA" sz="3600" dirty="0"/>
              <a:t>&lt;introduce TWG members&gt;</a:t>
            </a:r>
          </a:p>
        </p:txBody>
      </p:sp>
    </p:spTree>
    <p:extLst>
      <p:ext uri="{BB962C8B-B14F-4D97-AF65-F5344CB8AC3E}">
        <p14:creationId xmlns:p14="http://schemas.microsoft.com/office/powerpoint/2010/main" val="382085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9D9A-490C-54BF-FEE0-329F1BBF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INTERACTION 0.0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83228-5A1B-CADC-E434-B324F85D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3600" dirty="0"/>
              <a:t>What is your favourite </a:t>
            </a:r>
            <a:r>
              <a:rPr lang="en-CA" sz="3600" b="1" dirty="0"/>
              <a:t>animal </a:t>
            </a:r>
            <a:r>
              <a:rPr lang="en-CA" sz="3600" dirty="0"/>
              <a:t>as a </a:t>
            </a:r>
            <a:r>
              <a:rPr lang="en-CA" sz="3600" b="1" dirty="0"/>
              <a:t>PET</a:t>
            </a:r>
            <a:r>
              <a:rPr lang="en-CA" sz="3600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158F2-1EB5-B46A-D710-478C5D55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696E2-85F7-0C22-1AF3-EC897DEA39C1}"/>
              </a:ext>
            </a:extLst>
          </p:cNvPr>
          <p:cNvSpPr txBox="1"/>
          <p:nvPr/>
        </p:nvSpPr>
        <p:spPr>
          <a:xfrm>
            <a:off x="7315200" y="528604"/>
            <a:ext cx="3416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A" sz="2000" dirty="0">
                <a:solidFill>
                  <a:schemeClr val="accent2"/>
                </a:solidFill>
              </a:rPr>
              <a:t>&lt;Insert sharable URL, here&gt;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EA5368DA-20AB-EDA3-F973-141AA9BE24B5}"/>
              </a:ext>
            </a:extLst>
          </p:cNvPr>
          <p:cNvSpPr/>
          <p:nvPr/>
        </p:nvSpPr>
        <p:spPr>
          <a:xfrm>
            <a:off x="1338536" y="3394720"/>
            <a:ext cx="4608512" cy="3202669"/>
          </a:xfrm>
          <a:prstGeom prst="wedgeRectCallout">
            <a:avLst>
              <a:gd name="adj1" fmla="val 86678"/>
              <a:gd name="adj2" fmla="val 2498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3200" dirty="0">
                <a:solidFill>
                  <a:schemeClr val="tx2"/>
                </a:solidFill>
              </a:rPr>
              <a:t>During our workshops, we will leverage anonymous forms to collect and collate the information we need to develop our blueprint.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E04002A-A8A1-1025-6A33-F285C3BC6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2701" y="3492992"/>
            <a:ext cx="3125459" cy="422401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292822F-05EC-4C04-7F61-31EBB8235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11118" y="6275039"/>
            <a:ext cx="892644" cy="144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FE80F-C041-5237-5868-10C92339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6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E7B86-702F-3634-D6FD-2B4569116C2D}"/>
              </a:ext>
            </a:extLst>
          </p:cNvPr>
          <p:cNvSpPr txBox="1"/>
          <p:nvPr/>
        </p:nvSpPr>
        <p:spPr>
          <a:xfrm>
            <a:off x="762472" y="3250704"/>
            <a:ext cx="129490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A" sz="3600" dirty="0">
                <a:solidFill>
                  <a:schemeClr val="tx2"/>
                </a:solidFill>
              </a:rPr>
              <a:t>Optional: view PPT deck “</a:t>
            </a:r>
            <a:r>
              <a:rPr lang="en-CA" sz="3600" b="1" dirty="0">
                <a:solidFill>
                  <a:schemeClr val="tx2"/>
                </a:solidFill>
              </a:rPr>
              <a:t>000 Buildable Blueprint Overview</a:t>
            </a:r>
            <a:r>
              <a:rPr lang="en-CA" sz="3600" dirty="0">
                <a:solidFill>
                  <a:schemeClr val="tx2"/>
                </a:solidFill>
              </a:rPr>
              <a:t>”</a:t>
            </a:r>
          </a:p>
          <a:p>
            <a:r>
              <a:rPr lang="en-CA" sz="3600" dirty="0">
                <a:solidFill>
                  <a:schemeClr val="tx2"/>
                </a:solidFill>
              </a:rPr>
              <a:t>Alternate: copy/paste select slides from this “000” deck to here</a:t>
            </a:r>
          </a:p>
        </p:txBody>
      </p:sp>
    </p:spTree>
    <p:extLst>
      <p:ext uri="{BB962C8B-B14F-4D97-AF65-F5344CB8AC3E}">
        <p14:creationId xmlns:p14="http://schemas.microsoft.com/office/powerpoint/2010/main" val="232620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8083-6C86-4DCF-9892-797B8FE9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3A0F4-D00B-49CC-8868-C29FA7645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851997"/>
            <a:ext cx="10976168" cy="5431155"/>
          </a:xfrm>
        </p:spPr>
        <p:txBody>
          <a:bodyPr>
            <a:norm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en-CA" sz="2800" b="1" dirty="0"/>
              <a:t>Evaluate context and requirements</a:t>
            </a:r>
          </a:p>
          <a:p>
            <a:pPr marL="914400" indent="-914400">
              <a:buFont typeface="+mj-lt"/>
              <a:buAutoNum type="arabicPeriod"/>
            </a:pPr>
            <a:r>
              <a:rPr lang="en-CA" sz="2800" b="1" dirty="0"/>
              <a:t>Review existing strategies and map the HIE project’s value proposition in supporting these</a:t>
            </a:r>
          </a:p>
          <a:p>
            <a:pPr marL="914400" indent="-914400">
              <a:buFont typeface="+mj-lt"/>
              <a:buAutoNum type="arabicPeriod"/>
            </a:pPr>
            <a:r>
              <a:rPr lang="en-CA" sz="2800" b="1" dirty="0"/>
              <a:t>Develop actionable engineering artefacts</a:t>
            </a:r>
          </a:p>
          <a:p>
            <a:pPr marL="914400" indent="-914400">
              <a:buFont typeface="+mj-lt"/>
              <a:buAutoNum type="arabicPeriod"/>
            </a:pPr>
            <a:r>
              <a:rPr lang="en-CA" sz="2800" b="1" dirty="0"/>
              <a:t>Evaluate “accelerator” opportunities</a:t>
            </a:r>
          </a:p>
          <a:p>
            <a:pPr marL="914400" indent="-914400">
              <a:buFont typeface="+mj-lt"/>
              <a:buAutoNum type="arabicPeriod"/>
            </a:pPr>
            <a:r>
              <a:rPr lang="en-CA" sz="2800" b="1" dirty="0"/>
              <a:t>Evaluate data and programme governance readiness; make recommendations as needed</a:t>
            </a:r>
          </a:p>
          <a:p>
            <a:pPr marL="914400" indent="-914400">
              <a:buFont typeface="+mj-lt"/>
              <a:buAutoNum type="arabicPeriod"/>
            </a:pPr>
            <a:r>
              <a:rPr lang="en-CA" sz="2800" b="1" dirty="0"/>
              <a:t>Develop an implementation and investment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3A297-A951-40B9-B192-8D95F6F6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1376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BA45-B4A7-E619-D54E-C6D65BA7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A4B6-E3C0-51E3-2704-B224F174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3600" dirty="0"/>
              <a:t>&lt;insert timeline and milestone list&gt;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947CA-F27F-5CE6-0A72-7E1359DB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690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2CB8-4939-26FD-8C13-2AEA6030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ITERATIVE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42BE-CB3D-572E-397F-BB66AB71F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920243"/>
            <a:ext cx="12488336" cy="5431155"/>
          </a:xfrm>
        </p:spPr>
        <p:txBody>
          <a:bodyPr>
            <a:normAutofit/>
          </a:bodyPr>
          <a:lstStyle/>
          <a:p>
            <a:r>
              <a:rPr lang="en-CA" sz="2800" dirty="0"/>
              <a:t>Prior to the interactive part of each workshop session,  </a:t>
            </a:r>
            <a:r>
              <a:rPr lang="en-CA" sz="2800" b="1" dirty="0"/>
              <a:t>background content </a:t>
            </a:r>
            <a:r>
              <a:rPr lang="en-CA" sz="2800" dirty="0"/>
              <a:t>will be shared. These materials will </a:t>
            </a:r>
            <a:r>
              <a:rPr lang="en-CA" sz="2800" b="1" dirty="0"/>
              <a:t>inform </a:t>
            </a:r>
            <a:r>
              <a:rPr lang="en-CA" sz="2800" dirty="0"/>
              <a:t>the interactive discussion and help the workshop be more </a:t>
            </a:r>
            <a:r>
              <a:rPr lang="en-CA" sz="2800" b="1" dirty="0"/>
              <a:t>productive</a:t>
            </a:r>
            <a:r>
              <a:rPr lang="en-CA" sz="2800" dirty="0"/>
              <a:t>.</a:t>
            </a:r>
          </a:p>
          <a:p>
            <a:endParaRPr lang="en-CA" sz="2800" dirty="0"/>
          </a:p>
          <a:p>
            <a:r>
              <a:rPr lang="en-CA" sz="2800" dirty="0"/>
              <a:t>Each workshop will begin with a </a:t>
            </a:r>
            <a:r>
              <a:rPr lang="en-CA" sz="2800" b="1" dirty="0"/>
              <a:t>review </a:t>
            </a:r>
            <a:r>
              <a:rPr lang="en-CA" sz="2800" dirty="0"/>
              <a:t>of the real-time feedback collected in the previous workshop(s).</a:t>
            </a:r>
          </a:p>
          <a:p>
            <a:endParaRPr lang="en-CA" sz="2800" dirty="0"/>
          </a:p>
          <a:p>
            <a:r>
              <a:rPr lang="en-CA" sz="2800" dirty="0"/>
              <a:t>The interactive workshop will leverage </a:t>
            </a:r>
            <a:r>
              <a:rPr lang="en-CA" sz="2800" b="1" dirty="0"/>
              <a:t>anonymous</a:t>
            </a:r>
            <a:r>
              <a:rPr lang="en-CA" sz="2800" dirty="0"/>
              <a:t>, </a:t>
            </a:r>
            <a:r>
              <a:rPr lang="en-CA" sz="2800" b="1" dirty="0"/>
              <a:t>real-time input </a:t>
            </a:r>
            <a:r>
              <a:rPr lang="en-CA" sz="2800" dirty="0"/>
              <a:t>captured from attendees during the meeting. These interactive data will </a:t>
            </a:r>
            <a:r>
              <a:rPr lang="en-CA" sz="2800" b="1" dirty="0"/>
              <a:t>inform </a:t>
            </a:r>
            <a:r>
              <a:rPr lang="en-CA" sz="2800" dirty="0"/>
              <a:t>the discussions and support consensus-based </a:t>
            </a:r>
            <a:r>
              <a:rPr lang="en-CA" sz="2800" b="1" dirty="0"/>
              <a:t>decision-making</a:t>
            </a:r>
            <a:r>
              <a:rPr lang="en-CA" sz="28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CBA53-D95B-059E-5AAD-AA6C2CC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7978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A60176-F113-4726-B9E1-ECD1C59B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F0C0E-5B43-4274-9BD4-6C60A1613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920243"/>
            <a:ext cx="11264200" cy="5431155"/>
          </a:xfrm>
        </p:spPr>
        <p:txBody>
          <a:bodyPr>
            <a:normAutofit/>
          </a:bodyPr>
          <a:lstStyle/>
          <a:p>
            <a:r>
              <a:rPr lang="en-CA" sz="3600" dirty="0"/>
              <a:t>&lt;insert project next steps, including action items for TWG members and timing of upcoming meetings&gt;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DF5EC3-FDB2-4FBB-9AF4-DA7B9832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10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5052B-098A-2100-1C20-E10CE231C493}"/>
              </a:ext>
            </a:extLst>
          </p:cNvPr>
          <p:cNvSpPr txBox="1"/>
          <p:nvPr/>
        </p:nvSpPr>
        <p:spPr>
          <a:xfrm>
            <a:off x="0" y="5554960"/>
            <a:ext cx="14630400" cy="13849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</a:rPr>
              <a:t>REMEMBER</a:t>
            </a:r>
          </a:p>
          <a:p>
            <a:pPr algn="ctr"/>
            <a:r>
              <a:rPr lang="en-CA" sz="2800" b="1" dirty="0">
                <a:solidFill>
                  <a:schemeClr val="bg1"/>
                </a:solidFill>
              </a:rPr>
              <a:t>You will need your PC, tablet, or smartphone</a:t>
            </a:r>
          </a:p>
          <a:p>
            <a:pPr algn="ctr"/>
            <a:r>
              <a:rPr lang="en-CA" sz="2800" b="1" dirty="0">
                <a:solidFill>
                  <a:schemeClr val="bg1"/>
                </a:solidFill>
              </a:rPr>
              <a:t> to fill in the questionnaires. </a:t>
            </a:r>
          </a:p>
        </p:txBody>
      </p:sp>
    </p:spTree>
    <p:extLst>
      <p:ext uri="{BB962C8B-B14F-4D97-AF65-F5344CB8AC3E}">
        <p14:creationId xmlns:p14="http://schemas.microsoft.com/office/powerpoint/2010/main" val="3249482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172AE-5508-AC0A-E27E-CEAAB4E0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ARE STARTED!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E482C-8189-45B2-A943-FB0F5C984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4F48E-A456-4E2F-B17E-509464F7A050}" type="slidenum">
              <a:rPr lang="en-CA" smtClean="0"/>
              <a:pPr/>
              <a:t>11</a:t>
            </a:fld>
            <a:endParaRPr lang="en-C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40701C0-9104-8F2A-7230-067A06DDF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8576" y="2502399"/>
            <a:ext cx="2664296" cy="447828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7374474-693D-B97B-C39E-A7B2E7708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32" y="3239332"/>
            <a:ext cx="2664296" cy="374135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C7A6C5-E260-64E9-628C-F5F43FE39A62}"/>
              </a:ext>
            </a:extLst>
          </p:cNvPr>
          <p:cNvCxnSpPr/>
          <p:nvPr/>
        </p:nvCxnSpPr>
        <p:spPr>
          <a:xfrm>
            <a:off x="4866928" y="6707088"/>
            <a:ext cx="604867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695870"/>
      </p:ext>
    </p:extLst>
  </p:cSld>
  <p:clrMapOvr>
    <a:masterClrMapping/>
  </p:clrMapOvr>
</p:sld>
</file>

<file path=ppt/theme/theme1.xml><?xml version="1.0" encoding="utf-8"?>
<a:theme xmlns:a="http://schemas.openxmlformats.org/drawingml/2006/main" name="ecGroup PPT template 16x9">
  <a:themeElements>
    <a:clrScheme name="World Bank Brand Colours">
      <a:dk1>
        <a:srgbClr val="000000"/>
      </a:dk1>
      <a:lt1>
        <a:srgbClr val="FFFFFF"/>
      </a:lt1>
      <a:dk2>
        <a:srgbClr val="002244"/>
      </a:dk2>
      <a:lt2>
        <a:srgbClr val="EEECE1"/>
      </a:lt2>
      <a:accent1>
        <a:srgbClr val="009FDA"/>
      </a:accent1>
      <a:accent2>
        <a:srgbClr val="F05023"/>
      </a:accent2>
      <a:accent3>
        <a:srgbClr val="00AB51"/>
      </a:accent3>
      <a:accent4>
        <a:srgbClr val="872B90"/>
      </a:accent4>
      <a:accent5>
        <a:srgbClr val="00A996"/>
      </a:accent5>
      <a:accent6>
        <a:srgbClr val="FDB714"/>
      </a:accent6>
      <a:hlink>
        <a:srgbClr val="002244"/>
      </a:hlink>
      <a:folHlink>
        <a:srgbClr val="009FD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7-09-14 cycle 3 draft (notional) spec" id="{9A67F329-987B-47B2-A5B4-F181926CA689}" vid="{2250023F-EDB6-4F2A-8B04-18F2492E9D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ecGroup PPT Template</Template>
  <TotalTime>8362</TotalTime>
  <Words>332</Words>
  <Application>Microsoft Macintosh PowerPoint</Application>
  <PresentationFormat>Custom</PresentationFormat>
  <Paragraphs>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Andes Bold</vt:lpstr>
      <vt:lpstr>Arial</vt:lpstr>
      <vt:lpstr>Calibri</vt:lpstr>
      <vt:lpstr>Wingdings</vt:lpstr>
      <vt:lpstr>ecGroup PPT template 16x9</vt:lpstr>
      <vt:lpstr>Buildable DIGITAL HEALTH BLUEPRINT</vt:lpstr>
      <vt:lpstr>OVERVIEW</vt:lpstr>
      <vt:lpstr>WELCOME </vt:lpstr>
      <vt:lpstr>INTRODUCTIONS…</vt:lpstr>
      <vt:lpstr>INTERACTION 0.0</vt:lpstr>
      <vt:lpstr>PowerPoint Presentation</vt:lpstr>
      <vt:lpstr>PROJECT SCOPE</vt:lpstr>
      <vt:lpstr>PROJECT TIMELINE</vt:lpstr>
      <vt:lpstr>ITERATIVE PROCESS</vt:lpstr>
      <vt:lpstr>NEXT STEPS…</vt:lpstr>
      <vt:lpstr>WE ARE STARTED!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“Buildable” Blueprint Toolkit</dc:title>
  <dc:subject/>
  <dc:creator>Derek Ritz</dc:creator>
  <cp:keywords/>
  <dc:description/>
  <cp:lastModifiedBy>Matt Walker</cp:lastModifiedBy>
  <cp:revision>13</cp:revision>
  <dcterms:created xsi:type="dcterms:W3CDTF">2023-06-09T19:25:11Z</dcterms:created>
  <dcterms:modified xsi:type="dcterms:W3CDTF">2024-11-11T14:27:07Z</dcterms:modified>
  <cp:category/>
</cp:coreProperties>
</file>